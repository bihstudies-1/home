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77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designed to help BIHS leadership and advisors discuss strategic options. It deliberately does not recommend one path; it frames choices, tradeoffs, milestones and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keep the conversation from collapsing into one narrow question: “Should we accredit or not?” The deeper question is what form of legitimacy BIHS seeks and what it cannot compromise.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prevent simplistic claims. Education is changing, but quality, recognition and trust do not disappear. BIHS has options — each option must answer the trust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should not bias toward one route. Route D allows BIHS to keep multiple doors open while requiring measurable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is intended to surface dependencies. The best route is not the one with no risk; no such route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these examples as mirrors, not models. Each had a different type of starting capital and each carried hidden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key reframing: BIHS’s capital may be its network, tradition, and ability to gather scholars who speak both academic and Vaiṣṇava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capture the “not selling our soul” concern in a form that can be discussed responsibly.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invite advisers to name risks early. The route can be changed if warning signs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metrics can be edited by the Board. The point is to make the independent path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scorecard is not meant to discourage the degree path. It makes clear what makes the path honest and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especially important given internal concerns about institutional compromise.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avoid collapsing institutional strategy into the three-degree discussion. Degrees are one way to express an academic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questions can structure the advisory meeting. The goal is to elicit perspectives without forcing premature consensus.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leadership something practical to approve: a structured feasibility phase, not a final irreversible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should be refined before public circulation. This deck is intended for internal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BIHS strategic pathways discussion draft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843"/>
          </a:solidFill>
          <a:ln w="12700">
            <a:solidFill>
              <a:srgbClr val="0D2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594360"/>
            <a:ext cx="192024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509760" y="822960"/>
            <a:ext cx="1280160" cy="73152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566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508760"/>
            <a:ext cx="9052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Pathways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Advanced Research &amp; Education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9807" y="3063240"/>
            <a:ext cx="97165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D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discussion deck to compare routes, risks, questions, and ways to measure success — without deciding the path in advance</a:t>
            </a:r>
            <a:r>
              <a:rPr lang="en-US" sz="1400" dirty="0">
                <a:solidFill>
                  <a:srgbClr val="DDE8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950208"/>
            <a:ext cx="1691640" cy="402336"/>
          </a:xfrm>
          <a:prstGeom prst="roundRect">
            <a:avLst>
              <a:gd name="adj" fmla="val 22727"/>
            </a:avLst>
          </a:prstGeom>
          <a:solidFill>
            <a:srgbClr val="263F5C"/>
          </a:solidFill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405079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</a:t>
            </a: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3950208"/>
            <a:ext cx="2057400" cy="402336"/>
          </a:xfrm>
          <a:prstGeom prst="roundRect">
            <a:avLst>
              <a:gd name="adj" fmla="val 22727"/>
            </a:avLst>
          </a:prstGeom>
          <a:solidFill>
            <a:srgbClr val="263F5C"/>
          </a:solidFill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07208" y="4050792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institute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3950208"/>
            <a:ext cx="2148840" cy="402336"/>
          </a:xfrm>
          <a:prstGeom prst="roundRect">
            <a:avLst>
              <a:gd name="adj" fmla="val 22727"/>
            </a:avLst>
          </a:prstGeom>
          <a:solidFill>
            <a:srgbClr val="263F5C"/>
          </a:solidFill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93208" y="4050792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partnership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3950208"/>
            <a:ext cx="1874520" cy="402336"/>
          </a:xfrm>
          <a:prstGeom prst="roundRect">
            <a:avLst>
              <a:gd name="adj" fmla="val 22727"/>
            </a:avLst>
          </a:prstGeom>
          <a:solidFill>
            <a:srgbClr val="263F5C"/>
          </a:solidFill>
          <a:ln w="1016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70648" y="405079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integrity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815584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internal BIHS / advisory discussion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608076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draft • September 2026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447" y="3200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FRAMING THE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decision under the decision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choosing licensing, accreditation, or partnership, BIHS must clarify what it is trying to become.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Are we trying to build a university… or an internationally respected institute for advanced research and education?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907792"/>
            <a:ext cx="73152" cy="150876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8408" y="3072384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Legal legitimacy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8408" y="3456432"/>
            <a:ext cx="30266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authorization, degree authority, student-protection policies, regulatory compliance.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6280" y="29077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E6EFE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26280" y="2907792"/>
            <a:ext cx="73152" cy="1508760"/>
          </a:xfrm>
          <a:prstGeom prst="rect">
            <a:avLst/>
          </a:prstGeom>
          <a:solidFill>
            <a:srgbClr val="557A46"/>
          </a:solidFill>
          <a:ln w="12700">
            <a:solidFill>
              <a:srgbClr val="557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27448" y="3072384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legitimacy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27448" y="3456432"/>
            <a:ext cx="30266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Scholars, publications, peer review, invitations, research programs, student outcomes.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75320" y="290779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4E5D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75320" y="2907792"/>
            <a:ext cx="73152" cy="15087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76488" y="3072384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legitimacy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76488" y="3456432"/>
            <a:ext cx="302666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Faithfulness to BIHS’s reason for existing: science, philosophy, Bhāgavata/Vaiṣṇava thought, and courageous inquiry.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path may be the one that preserves all three forms of legitimacy—not the one that maximizes only one.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447" y="374904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CHANGING EDUCATIONAL LANDSCAPE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84161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is changing — but trust still has to be earned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" y="1124712"/>
            <a:ext cx="1184781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Non-degree credentials and independent learning are growing, but recognition and quality assurance remain central problems.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2560320" cy="3017520"/>
          </a:xfrm>
          <a:prstGeom prst="rect">
            <a:avLst/>
          </a:prstGeom>
          <a:solidFill>
            <a:srgbClr val="FFFDF7"/>
          </a:solidFill>
          <a:ln w="1651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0299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1.85M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U.S. credentials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 by Credential Engine in 2025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3611880"/>
            <a:ext cx="173736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2194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Degrees are no longer the only educational product.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199" y="1673352"/>
            <a:ext cx="7696047" cy="841248"/>
          </a:xfrm>
          <a:prstGeom prst="roundRect">
            <a:avLst>
              <a:gd name="adj" fmla="val 8696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86200" y="1673352"/>
            <a:ext cx="73152" cy="84124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87368" y="1682496"/>
            <a:ext cx="691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Degrees remain powerful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87368" y="2052476"/>
            <a:ext cx="749487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for many academic, licensure and career pathways; accreditation also affects federal aid and transferability.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6199" y="2679192"/>
            <a:ext cx="7696047" cy="841248"/>
          </a:xfrm>
          <a:prstGeom prst="roundRect">
            <a:avLst>
              <a:gd name="adj" fmla="val 8696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86200" y="2679192"/>
            <a:ext cx="73152" cy="84124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87368" y="2720340"/>
            <a:ext cx="691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 learning is real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87368" y="3114939"/>
            <a:ext cx="73426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Institutes, certificates, summer schools and advanced seminars can succeed without degrees.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199" y="3685032"/>
            <a:ext cx="7696047" cy="841248"/>
          </a:xfrm>
          <a:prstGeom prst="roundRect">
            <a:avLst>
              <a:gd name="adj" fmla="val 8696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3685032"/>
            <a:ext cx="73152" cy="84124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87368" y="3720201"/>
            <a:ext cx="691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weak point is recognition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87368" y="4149969"/>
            <a:ext cx="691286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students, employers and universities ask: Who stands behind the quality?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892039"/>
            <a:ext cx="10058400" cy="841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Implication for BIHS: we can pursue serious advanced education without degrees — but cannot ignore how legitimacy will be signaled.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614476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Credential Engine, Counting Credentials 2025; U.S. Department of Education and CHEA on accreditation.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Possible ROUTES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Possible strategic routes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routes can be sequenced, combined, or consciously rejected. The point is to name the choices clearly.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FF5FA"/>
          </a:solidFill>
          <a:ln w="1270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1847088"/>
            <a:ext cx="512064" cy="512064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9568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7632" y="1819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Degree-granting BIHS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27632" y="2176272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 licensure → operate degree programs → possible accreditation later.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6EFE3"/>
          </a:solidFill>
          <a:ln w="1270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64808" y="1847088"/>
            <a:ext cx="512064" cy="512064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195681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59752" y="1819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 institute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59752" y="2176272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Research, conferences, advanced courses, fellowships, certificates — no degree claims.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CE5F0"/>
          </a:solidFill>
          <a:ln w="1270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2688" y="3950208"/>
            <a:ext cx="512064" cy="512064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2688" y="40599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27632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University partner model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27632" y="4419366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BIHS provides intellectual/program strength; partner institution awards or validates degree.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749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E5D3"/>
          </a:solidFill>
          <a:ln w="1270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64808" y="3950208"/>
            <a:ext cx="512064" cy="512064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64808" y="405993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59752" y="3922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Staged hybrid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9752" y="4451370"/>
            <a:ext cx="3931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institute identity now while developing the degree path and testing partnership possibilities.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200" y="4462272"/>
            <a:ext cx="0" cy="0"/>
          </a:xfrm>
          <a:prstGeom prst="line">
            <a:avLst/>
          </a:prstGeom>
          <a:noFill/>
          <a:ln w="2794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conversation: Which route protects mission, earns legitimacy, develops students, and is feasible within BIHS resources?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route optimizes — and what it makes us depend 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325880" cy="411480"/>
          </a:xfrm>
          <a:prstGeom prst="rect">
            <a:avLst/>
          </a:prstGeom>
          <a:solidFill>
            <a:srgbClr val="163A5F"/>
          </a:solidFill>
          <a:ln w="635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2011680" cy="411480"/>
          </a:xfrm>
          <a:prstGeom prst="rect">
            <a:avLst/>
          </a:prstGeom>
          <a:solidFill>
            <a:srgbClr val="163A5F"/>
          </a:solidFill>
          <a:ln w="635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4248" y="1581912"/>
            <a:ext cx="18836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2468880" cy="411480"/>
          </a:xfrm>
          <a:prstGeom prst="rect">
            <a:avLst/>
          </a:prstGeom>
          <a:solidFill>
            <a:srgbClr val="163A5F"/>
          </a:solidFill>
          <a:ln w="635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95928" y="1581912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created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286000" cy="411480"/>
          </a:xfrm>
          <a:prstGeom prst="rect">
            <a:avLst/>
          </a:prstGeom>
          <a:solidFill>
            <a:srgbClr val="163A5F"/>
          </a:solidFill>
          <a:ln w="635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464808" y="1581912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risk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1463040"/>
            <a:ext cx="3017520" cy="411480"/>
          </a:xfrm>
          <a:prstGeom prst="rect">
            <a:avLst/>
          </a:prstGeom>
          <a:solidFill>
            <a:srgbClr val="163A5F"/>
          </a:solidFill>
          <a:ln w="635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50808" y="1581912"/>
            <a:ext cx="2889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of progress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1874520"/>
            <a:ext cx="13258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58368" y="1947672"/>
            <a:ext cx="1197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73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Degree-granting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1874520"/>
            <a:ext cx="20116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984248" y="1947672"/>
            <a:ext cx="18836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Curricular control + recognized degrees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1874520"/>
            <a:ext cx="24688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95928" y="1947672"/>
            <a:ext cx="2340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Regulators, accreditors, compliance infrastructure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874520"/>
            <a:ext cx="228600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4808" y="1947672"/>
            <a:ext cx="21579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weight; mission squeezed into forms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1874520"/>
            <a:ext cx="301752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50808" y="1947672"/>
            <a:ext cx="28895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License, students, outcomes, eventual accreditation readiness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2715768"/>
            <a:ext cx="13258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2788920"/>
            <a:ext cx="1197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Independent institute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2715768"/>
            <a:ext cx="20116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84248" y="2788920"/>
            <a:ext cx="18836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intellectual flexibility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0" y="2715768"/>
            <a:ext cx="24688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3995928" y="2788920"/>
            <a:ext cx="2340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Reputation, donors, scholarly recognition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2715768"/>
            <a:ext cx="228600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64808" y="2788920"/>
            <a:ext cx="21579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remain internal; little external influence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2715768"/>
            <a:ext cx="301752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50808" y="2788920"/>
            <a:ext cx="28895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output, invited scholars, publications, external engagement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3557016"/>
            <a:ext cx="13258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" y="3630168"/>
            <a:ext cx="1197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University partner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20240" y="3557016"/>
            <a:ext cx="20116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984248" y="3630168"/>
            <a:ext cx="18836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recognition without building whole university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931920" y="3557016"/>
            <a:ext cx="246888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3995928" y="3630168"/>
            <a:ext cx="2340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Partner’s priorities and continuing willingness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3557016"/>
            <a:ext cx="228600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64808" y="3630168"/>
            <a:ext cx="21579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Prestige gained by identity diluted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686800" y="3557016"/>
            <a:ext cx="3017520" cy="841248"/>
          </a:xfrm>
          <a:prstGeom prst="rect">
            <a:avLst/>
          </a:prstGeom>
          <a:solidFill>
            <a:srgbClr val="F4F7FA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50808" y="3630168"/>
            <a:ext cx="28895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agreement, curricular control, student pathway, reciprocal benefits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4360" y="4398264"/>
            <a:ext cx="13258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8368" y="4471416"/>
            <a:ext cx="1197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Staged hybrid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920240" y="4398264"/>
            <a:ext cx="20116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Text 47"/>
          <p:cNvSpPr/>
          <p:nvPr/>
        </p:nvSpPr>
        <p:spPr>
          <a:xfrm>
            <a:off x="1984248" y="4471416"/>
            <a:ext cx="18836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Optionality + learning before committing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31920" y="4398264"/>
            <a:ext cx="246888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95928" y="4471416"/>
            <a:ext cx="234086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 to measure and decide later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0" y="4398264"/>
            <a:ext cx="228600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6464808" y="4471416"/>
            <a:ext cx="21579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Indecision disguised as prudence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686800" y="4398264"/>
            <a:ext cx="3017520" cy="841248"/>
          </a:xfrm>
          <a:prstGeom prst="rect">
            <a:avLst/>
          </a:prstGeom>
          <a:solidFill>
            <a:srgbClr val="FFFDF7"/>
          </a:solidFill>
          <a:ln w="635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750808" y="4471416"/>
            <a:ext cx="288950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Timed milestones, go/no-go criteria, evidence by Year 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0887" y="5536692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route is dependency-free. The question is which dependencies are compatible with BIHS’s mission.</a:t>
            </a:r>
            <a:endParaRPr lang="en-US" sz="14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0133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TO LEARN FROM — NOT COPY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22763" y="33832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show conditions, not templates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institutes succeed when they start with or quickly acquire unusual forms of capital.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73152" cy="9601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057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Oxford Centre for Hindu Studies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111209"/>
            <a:ext cx="105704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/ institutional capital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relationships, teaching/research context, eventual recognized status; internal concern: external fit can pressure identity/language.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6EFE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834640"/>
            <a:ext cx="73152" cy="960120"/>
          </a:xfrm>
          <a:prstGeom prst="rect">
            <a:avLst/>
          </a:prstGeom>
          <a:solidFill>
            <a:srgbClr val="557A46"/>
          </a:solidFill>
          <a:ln w="12700">
            <a:solidFill>
              <a:srgbClr val="557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6968" y="2871216"/>
            <a:ext cx="1057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Santa Fe Institute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6968" y="3227832"/>
            <a:ext cx="105704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Intellectual / network capital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Founded around complexity with senior scientists; reputation built through research, workshops, publications, and flagship training.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4E5D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73152" cy="9601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4032504"/>
            <a:ext cx="10570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Perimeter Institute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6968" y="4425696"/>
            <a:ext cx="105704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/ scientific capital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$100M founding gift; independent institute paired with Waterloo degree pathway years later.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for BIHS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321169" y="5138928"/>
            <a:ext cx="8925951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not “Can we imitate them?” but </a:t>
            </a:r>
          </a:p>
          <a:p>
            <a:pPr marL="0" indent="0">
              <a:buNone/>
            </a:pPr>
            <a:r>
              <a:rPr lang="en-US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is BIHS’s unusual capital, and what price are we willing—or unwilling—to pay for recognition?”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include public histories of OCHS, SFI, Perimeter Institute, and internal BIHS knowledge/context shared by Monica.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3493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BIHS ASSETS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68456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ADVANTAGE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921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BIHS’s unusual capital?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BIHS does not have $100M or Oxford-style institutional embedding, what does it uniquely have?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9080" y="1828800"/>
            <a:ext cx="4023360" cy="1874520"/>
          </a:xfrm>
          <a:prstGeom prst="ellipse">
            <a:avLst/>
          </a:prstGeom>
          <a:solidFill>
            <a:srgbClr val="163A5F"/>
          </a:solidFill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249424"/>
            <a:ext cx="3383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Hindu / Vaiṣṇava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Diaspora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192938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scholars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823960" y="182880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E6EFE3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33688" y="199972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Distinctive questions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77240" y="3362178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F4E5D3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357530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/ BIHS intellectual history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823960" y="3392424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ECE5F0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33688" y="3575304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courses, books, conferences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337560" y="480060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FFFDF7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47288" y="501091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Bhāgavata / Vaiṣṇava tradition as intellectual resource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91840" y="2103120"/>
            <a:ext cx="777240" cy="32004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>
            <a:off x="8050236" y="2176272"/>
            <a:ext cx="731520" cy="246888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3401568" y="3346704"/>
            <a:ext cx="931985" cy="32004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32520" y="3749040"/>
            <a:ext cx="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question: How do we convert access to scholars into influence in the wider academic conversation?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F4A87D12-6CF2-C8B7-4C3C-40DAB795D752}"/>
              </a:ext>
            </a:extLst>
          </p:cNvPr>
          <p:cNvSpPr/>
          <p:nvPr/>
        </p:nvSpPr>
        <p:spPr>
          <a:xfrm flipH="1" flipV="1">
            <a:off x="5992837" y="3758184"/>
            <a:ext cx="42203" cy="1060704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950C16E6-9BB5-CEA3-4CC6-F2B7ECB99F25}"/>
              </a:ext>
            </a:extLst>
          </p:cNvPr>
          <p:cNvSpPr/>
          <p:nvPr/>
        </p:nvSpPr>
        <p:spPr>
          <a:xfrm flipH="1" flipV="1">
            <a:off x="7937695" y="3236976"/>
            <a:ext cx="931985" cy="32004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INTEGRITY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Recognition is not automatically success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BIHS needs a filter to distinguish translation from dilution.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E6EFE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73152" cy="1097280"/>
          </a:xfrm>
          <a:prstGeom prst="rect">
            <a:avLst/>
          </a:prstGeom>
          <a:solidFill>
            <a:srgbClr val="557A46"/>
          </a:solidFill>
          <a:ln w="12700">
            <a:solidFill>
              <a:srgbClr val="557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7647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148840"/>
            <a:ext cx="4718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Formulate BIHS questions with rigor, evidence, historical awareness, and conceptual clarity so scholars outside the tradition can engage.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4E5D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73152" cy="109728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7647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148840"/>
            <a:ext cx="4718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language, scope or substance so extensively that BIHS becomes respectable but no longer does what it was created to do.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before accepting prestige, funding, or partnership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730752"/>
            <a:ext cx="100584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our scholars openly engage Bhāgavata / Vaiṣṇava thought as an intellectual tradition?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we changing terminology to communicate—or changing substance to be accepted?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Would we still want this partnership if the prestige of the partner’s name were removed?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BIHS refuse even if it brought money, recognition, or access?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integrity should be a decision criterion, not an afterthought.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THE RISKS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MODES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does not always look like closure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institutions survive legally but fail to become what they hoped to be.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73152" cy="123444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9019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Recognized but hollow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286000"/>
            <a:ext cx="4718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Prestige is gained by becoming intellectually generic or hiding the distinctive tradition.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73152" cy="12344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4808" y="19019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Faithful but isolated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286000"/>
            <a:ext cx="4718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is preserved, but work circulates mainly among those already convinced.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DF7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3152" cy="123444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391363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Degree-granting but exhausted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4297680"/>
            <a:ext cx="4718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and administration consume the energy meant for research and teaching.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749040"/>
            <a:ext cx="73152" cy="1234440"/>
          </a:xfrm>
          <a:prstGeom prst="rect">
            <a:avLst/>
          </a:prstGeom>
          <a:solidFill>
            <a:srgbClr val="557A46"/>
          </a:solidFill>
          <a:ln w="12700">
            <a:solidFill>
              <a:srgbClr val="557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4808" y="391363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Busy but not influential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4808" y="4297680"/>
            <a:ext cx="471830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events and courses happen, but little enduring scholarship or external engagement results.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strategy should define not only success metrics, but warning signs.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B SCORECARD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INSTITUTE MODEL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BIHS stays independent: how do we know we are succeeding?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011680" cy="347472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" y="142646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4480560" cy="347472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52344" y="1426464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 evidence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7178040" y="1325880"/>
            <a:ext cx="4480560" cy="347472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32904" y="1426464"/>
            <a:ext cx="4370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5 evidence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685800" y="1673352"/>
            <a:ext cx="201168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" y="1737360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697480" y="1673352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52344" y="1737360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sustained research groups with named projects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7178040" y="1673352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32904" y="1737360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Externally visible research program with publications and collaborators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85800" y="2331720"/>
            <a:ext cx="201168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" y="2395728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697480" y="2331720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52344" y="2395728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working papers / essays with external review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7178040" y="2331720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32904" y="2395728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Peer-reviewed articles, edited volume, or academic press contracts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85800" y="2990088"/>
            <a:ext cx="201168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0664" y="3054096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Scholars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97480" y="2990088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52344" y="3054096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core + active affiliated scholars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7178040" y="2990088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32904" y="3054096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Visiting scholars / fellows seek association with BIHS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3648456"/>
            <a:ext cx="201168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0664" y="3712464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2697480" y="3648456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52344" y="3712464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flagship advanced program with assessments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178040" y="3648456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32904" y="3712464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Distinctive advanced institute model with alumni outcomes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85800" y="4306824"/>
            <a:ext cx="201168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0664" y="4370832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engagement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97480" y="4306824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52344" y="4370832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Co-sponsored events and invited speakers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7178040" y="4306824"/>
            <a:ext cx="4480560" cy="658368"/>
          </a:xfrm>
          <a:prstGeom prst="rect">
            <a:avLst/>
          </a:prstGeom>
          <a:solidFill>
            <a:srgbClr val="F4F7FA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32904" y="4370832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Non-BIHS academics actively attend, cite, invite, collaborate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85800" y="4965192"/>
            <a:ext cx="201168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0664" y="5029200"/>
            <a:ext cx="190195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integrity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97480" y="4965192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52344" y="5029200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non-negotiables approved by leadership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178040" y="4965192"/>
            <a:ext cx="4480560" cy="658368"/>
          </a:xfrm>
          <a:prstGeom prst="rect">
            <a:avLst/>
          </a:prstGeom>
          <a:solidFill>
            <a:srgbClr val="FFFDF7"/>
          </a:solidFill>
          <a:ln w="6350">
            <a:solidFill>
              <a:srgbClr val="D6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32904" y="5029200"/>
            <a:ext cx="4370832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 without substantive dilution of BIHS identity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milestones, the institute route can become endless activity without evidence of influence.</a:t>
            </a:r>
            <a:endParaRPr lang="en-US" sz="82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A SCORECARD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PATH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BIHS becomes degree-granting: what must be true?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authorization provides a formal road, but it carries infrastructure commitments.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1837944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readiness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520440" y="1773936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 application, catalog, policies, finances, student protections, faculty documentation.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7008" y="2386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Faculty-to-course map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3520440" y="2404872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course has qualified faculty and backup coverage; credentials match assignments.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2960" y="3099816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7008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sustainability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3520440" y="3035808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cohort protected; operating costs covered without depending on unrealistic enrollment.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7008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outcomes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3520440" y="3666744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admissions, advising, completion, thesis/capstone, grievance and records policies.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22960" y="4361688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7008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Accreditation horizon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3520440" y="4297680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DEAC or another accreditor is desired, design the program from day one to be accreditable.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22960" y="4992624"/>
            <a:ext cx="237744" cy="237744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7008" y="4910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integrity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3520440" y="4928616"/>
            <a:ext cx="78181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language and curriculum remain faithful to the intellectual reason BIHS exists.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 authority may preserve independence, but requires sustained administrative capacity.</a:t>
            </a:r>
            <a:endParaRPr lang="en-US" sz="8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C SCORECARD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PATH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BIHS partners with a university: what must be protected?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can give recognition without building a university — but the terms matter.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3152" cy="27889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99339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questions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377440"/>
            <a:ext cx="4809744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controls curriculum and faculty selection?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admits students and holds records?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awards the credential?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the partner withdraws?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F4E5D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73152" cy="2788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4808" y="1993392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Mission questions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64808" y="2377440"/>
            <a:ext cx="4809744" cy="2075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BIHS openly preserve its intellectual identity?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BIHS faculty recognized as serious academic contributors?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partnership reciprocal or merely validating?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this create dependence on one institution’s priorities?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51663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61872" y="5340096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should amplify BIHS’s identity, not replace it with borrowed legitimacy.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PORTFOLIO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DIRECTION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portfolios to test —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portfolio depends on the institutional route and the faculty evidence.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EFF5FA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73152" cy="347472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86968" y="176479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Degree-program portfolio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2148840"/>
            <a:ext cx="4901184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three-master’s concept: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M.A. History &amp; Philosophy of Science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M.S. Astronomy &amp; Astrophysics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M.A./M.S. Conflict Analysis &amp; Resolution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if: BIHS chooses degree authority or wants a university-designation pathway.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E6EFE3"/>
          </a:solidFill>
          <a:ln w="10160">
            <a:solidFill>
              <a:srgbClr val="D5D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73152" cy="3474720"/>
          </a:xfrm>
          <a:prstGeom prst="rect">
            <a:avLst/>
          </a:prstGeom>
          <a:solidFill>
            <a:srgbClr val="557A46"/>
          </a:solidFill>
          <a:ln w="12700">
            <a:solidFill>
              <a:srgbClr val="557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088" y="176479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Advanced-institute portfolio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19088" y="2148840"/>
            <a:ext cx="4901184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non-degree flagship programs: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Research fellows / working groups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Summer or annual advanced institutes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Certificates of completion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Scholar-in-residence programs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Public-facing publications + academic outputs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if: BIHS prioritizes research identity and flexibility.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intellectual mission, different vehicles. The Board can ask which vehicle best serves BIHS now.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ADVISORY / BOARD DISCUSSION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QUESTIONS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worth asking before choosing a path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4173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BIHS unwilling to compromise, even for recognition?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7739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103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must recognize BIHS for the mission to be fulfilled — students, scholars, universities, donors, wider public?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597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7889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BIHS produce: degrees, research, books, trained scholars, courses, public influence, or all of these?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455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Capital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34747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form of unusual capital can BIHS realistically mobilize: diaspora network, faculty, donors, facilities, publications, partnerships?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8313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41605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count as evidence of real progress by Year 3 and Year 5?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5171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846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Choice point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48463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BIHS revisit the decision rather than drift?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202936"/>
            <a:ext cx="10424160" cy="0"/>
          </a:xfrm>
          <a:prstGeom prst="line">
            <a:avLst/>
          </a:prstGeom>
          <a:noFill/>
          <a:ln w="889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PROPOSAL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way to proceed without prematurely deciding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feasibility phase can make the decision stronger, whichever route is ultimately chosen.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EFF5FA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63624" y="2029968"/>
            <a:ext cx="594360" cy="594360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63624" y="2176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Clarify non-negotiables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integrity principles, identity, acceptable / unacceptable compromises.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898648" y="2971800"/>
            <a:ext cx="146304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81528" y="182880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FFDF7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76472" y="2029968"/>
            <a:ext cx="594360" cy="594360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76472" y="2176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18688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assets and faculty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218688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CVs, degrees, publications, course coverage, availability, diaspora expertise.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5111496" y="2971800"/>
            <a:ext cx="146304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94376" y="182880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EFF5FA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2029968"/>
            <a:ext cx="594360" cy="594360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2176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1536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routes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5431536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 degree path, independent institute path, university-partner path, staged hybrid.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324344" y="2971800"/>
            <a:ext cx="146304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07224" y="182880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FFFDF7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02168" y="2029968"/>
            <a:ext cx="594360" cy="594360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02168" y="2176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44384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measurable milestones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7644384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 / Year 5 scorecards for whichever route is chosen.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537192" y="2971800"/>
            <a:ext cx="146304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20072" y="1828800"/>
            <a:ext cx="2011680" cy="2286000"/>
          </a:xfrm>
          <a:prstGeom prst="roundRect">
            <a:avLst>
              <a:gd name="adj" fmla="val 3182"/>
            </a:avLst>
          </a:prstGeom>
          <a:solidFill>
            <a:srgbClr val="EFF5FA"/>
          </a:solidFill>
          <a:ln w="10160">
            <a:solidFill>
              <a:srgbClr val="D0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415016" y="2029968"/>
            <a:ext cx="594360" cy="594360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415016" y="2176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57232" y="2761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first commitments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9857232" y="3246120"/>
            <a:ext cx="1737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pilot institute program, one degree application, one partnership exploration — or another sequence.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43000" y="5074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key: move from enthusiasm to evidence without closing the door on the best path.</a:t>
            </a:r>
            <a:endParaRPr lang="en-US" sz="17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NOTES</a:t>
            </a:r>
            <a:endParaRPr lang="en-US" sz="740" dirty="0"/>
          </a:p>
        </p:txBody>
      </p:sp>
      <p:sp>
        <p:nvSpPr>
          <p:cNvPr id="4" name="Text 2"/>
          <p:cNvSpPr/>
          <p:nvPr/>
        </p:nvSpPr>
        <p:spPr>
          <a:xfrm>
            <a:off x="640080" y="384048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references used to frame the discussion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" y="141732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Engine, Counting Credentials 2025 — scale and diversity of the U.S. credential ecosystem.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189280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Department of Education and CHEA — role of accreditation and implications for federal aid / quality assurance.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822960" y="23682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60704" y="2368296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Florida Commission for Independent Education, Chapter 6E — state authorization and master’s degree requirements.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22960" y="28437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" y="2843784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Oxford Centre for Hindu Studies public history and reports — independent centre / recognition pathway.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822960" y="33192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0704" y="331927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Santa Fe Institute public history — independent research institute model; complexity science and flagship training.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379476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Perimeter Institute public history and Waterloo partnership — independent institute + university degree partnership model.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822960" y="4270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0704" y="42702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Notre Dame HPS Graduate Handbook — HPS master’s benchmark: history of science + philosophy of science + thesis/research assessment.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822960" y="4745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" y="4745736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D29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BIHS knowledge and context supplied by Monica — especially mission-identity concerns and diaspora network assets.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i="1" dirty="0">
                <a:solidFill>
                  <a:srgbClr val="5E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deck intentionally combines public evidence with internal strategic reflections; it is for discussion, not public distribution.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5C5C5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2451</Words>
  <Application>Microsoft Macintosh PowerPoint</Application>
  <PresentationFormat>Widescreen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OpenAI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BIHS Strategic Pathways</dc:title>
  <dc:subject>BIHS strategic pathways discussion deck</dc:subject>
  <dc:creator>OpenAI</dc:creator>
  <cp:keywords/>
  <dc:description/>
  <cp:lastModifiedBy>Microsoft Office User</cp:lastModifiedBy>
  <cp:revision>3</cp:revision>
  <dcterms:created xsi:type="dcterms:W3CDTF">2026-09-29T02:31:00Z</dcterms:created>
  <dcterms:modified xsi:type="dcterms:W3CDTF">2026-09-29T03:02:04Z</dcterms:modified>
  <cp:category/>
</cp:coreProperties>
</file>